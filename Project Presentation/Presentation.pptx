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72" r:id="rId2"/>
    <p:sldId id="273" r:id="rId3"/>
    <p:sldId id="274" r:id="rId4"/>
    <p:sldId id="277" r:id="rId5"/>
    <p:sldId id="280" r:id="rId6"/>
    <p:sldId id="281" r:id="rId7"/>
    <p:sldId id="282" r:id="rId8"/>
    <p:sldId id="283" r:id="rId9"/>
    <p:sldId id="284" r:id="rId10"/>
    <p:sldId id="278" r:id="rId11"/>
    <p:sldId id="285" r:id="rId12"/>
    <p:sldId id="286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121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uti Mochueneng" userId="03cdee2d52c287bf" providerId="LiveId" clId="{04A12C5C-0B2F-4841-9A9B-12DFEE1218DC}"/>
    <pc:docChg chg="undo custSel addSld delSld modSld">
      <pc:chgData name="Phuti Mochueneng" userId="03cdee2d52c287bf" providerId="LiveId" clId="{04A12C5C-0B2F-4841-9A9B-12DFEE1218DC}" dt="2025-11-13T09:02:35.859" v="1050" actId="20577"/>
      <pc:docMkLst>
        <pc:docMk/>
      </pc:docMkLst>
      <pc:sldChg chg="addSp delSp modSp add mod">
        <pc:chgData name="Phuti Mochueneng" userId="03cdee2d52c287bf" providerId="LiveId" clId="{04A12C5C-0B2F-4841-9A9B-12DFEE1218DC}" dt="2025-11-13T09:02:35.859" v="1050" actId="20577"/>
        <pc:sldMkLst>
          <pc:docMk/>
          <pc:sldMk cId="783587040" sldId="281"/>
        </pc:sldMkLst>
        <pc:spChg chg="add mod">
          <ac:chgData name="Phuti Mochueneng" userId="03cdee2d52c287bf" providerId="LiveId" clId="{04A12C5C-0B2F-4841-9A9B-12DFEE1218DC}" dt="2025-11-13T09:02:35.859" v="1050" actId="20577"/>
          <ac:spMkLst>
            <pc:docMk/>
            <pc:sldMk cId="783587040" sldId="281"/>
            <ac:spMk id="23" creationId="{17237526-A914-C79A-AAE5-1466B45106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BD4573-58E7-4156-A133-2731F5F8D1A6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B0CF2-7F87-4E02-A248-870047730F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Rectangle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Straight Connector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1D30-C0A0-4124-A783-34D9F15FA0FE}" type="datetime1">
              <a:rPr lang="en-US" smtClean="0"/>
              <a:t>11/13/2025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28077-7188-48C5-8679-2287FAC952E9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B740-6776-4EE9-99FD-96D592FA5A23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6BD99-6FFD-46C5-B5E2-43A34BDA2566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2678E-214C-4CF8-97C7-95015FB02960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660E0-FA77-4473-A859-74127B089143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8D7B8-9F07-4899-827D-5F3CFDDEB574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97C5C-1CD1-417D-A89C-14747F5222C7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9EFBB-CFA1-4AA8-9123-F0B52DBD84FE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D5871-AB0F-4B3D-8861-97E78CB7B47E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18406-4C3F-4F3E-80BD-A22568EA37EB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Rectangle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anchor="t" compatLnSpc="1"/>
              <a:lstStyle/>
              <a:p>
                <a:pPr marL="0" algn="l" rtl="0" eaLnBrk="1" latinLnBrk="0" hangingPunct="1"/>
                <a:endParaRPr kumimoji="0" lang="en-US" sz="18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Freeform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  <p:sp>
              <p:nvSpPr>
                <p:cNvPr id="33" name="Freeform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anchor="t" compatLnSpc="1"/>
                <a:lstStyle/>
                <a:p>
                  <a:endParaRPr kumimoji="0" lang="en-US" sz="1800"/>
                </a:p>
              </p:txBody>
            </p:sp>
          </p:grpSp>
        </p:grpSp>
      </p:grp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61146459-E3C3-4969-9224-5ED50B492D17}" type="datetime1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 err="1"/>
              <a:t>BrightTV</a:t>
            </a:r>
            <a:r>
              <a:rPr lang="en-US" sz="6000" dirty="0"/>
              <a:t> Viewership Analytics (Insights and Recommendations)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5368036" y="3740727"/>
            <a:ext cx="5812028" cy="606563"/>
          </a:xfrm>
        </p:spPr>
        <p:txBody>
          <a:bodyPr/>
          <a:lstStyle/>
          <a:p>
            <a:r>
              <a:rPr lang="en-US" dirty="0"/>
              <a:t>Presenter’s Name: Phuti Mochueneng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EEB69C-2518-34F8-DF75-EF4F941DF406}"/>
              </a:ext>
            </a:extLst>
          </p:cNvPr>
          <p:cNvSpPr txBox="1"/>
          <p:nvPr/>
        </p:nvSpPr>
        <p:spPr>
          <a:xfrm>
            <a:off x="0" y="5766954"/>
            <a:ext cx="280554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/>
              <a:t>Date: 30 September 2025</a:t>
            </a: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Agenda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278380"/>
            <a:ext cx="10972800" cy="438912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Insights on user and usage trends of </a:t>
            </a:r>
            <a:r>
              <a:rPr lang="en-US" dirty="0" err="1"/>
              <a:t>BrightTV</a:t>
            </a:r>
            <a:r>
              <a:rPr lang="en-US" dirty="0"/>
              <a:t>. </a:t>
            </a:r>
          </a:p>
          <a:p>
            <a:r>
              <a:rPr lang="en-US" dirty="0"/>
              <a:t>Factors influence consumption</a:t>
            </a:r>
          </a:p>
          <a:p>
            <a:r>
              <a:rPr lang="en-US" dirty="0"/>
              <a:t>Recommendations for Low Consumption Days</a:t>
            </a:r>
          </a:p>
          <a:p>
            <a:r>
              <a:rPr lang="en-US" dirty="0"/>
              <a:t>Initiatives to Grow User 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BrightTV’s</a:t>
            </a:r>
            <a:r>
              <a:rPr lang="en-US" dirty="0"/>
              <a:t> CEO has set a goal to grow the subscription base this financial year. To support this, I’ve analyzed user profiles and viewing sessions to uncover key trends, behaviors, and opportunities.</a:t>
            </a:r>
          </a:p>
          <a:p>
            <a:pPr algn="just"/>
            <a:r>
              <a:rPr lang="en-US" dirty="0"/>
              <a:t>This presentation shares insights on how users engage with </a:t>
            </a:r>
            <a:r>
              <a:rPr lang="en-US" dirty="0" err="1"/>
              <a:t>BrightTV</a:t>
            </a:r>
            <a:r>
              <a:rPr lang="en-US" dirty="0"/>
              <a:t>, what drives their viewing habits, and what strategies can help increase both consumption and subscriber growth.</a:t>
            </a:r>
          </a:p>
          <a:p>
            <a:pPr algn="just"/>
            <a:r>
              <a:rPr lang="en-US" dirty="0"/>
              <a:t>Let’s dive 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55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8600" y="517052"/>
            <a:ext cx="10972800" cy="1143000"/>
          </a:xfrm>
        </p:spPr>
        <p:txBody>
          <a:bodyPr/>
          <a:lstStyle/>
          <a:p>
            <a:r>
              <a:rPr lang="en-ZA" b="1" dirty="0"/>
              <a:t>Viewers by Province</a:t>
            </a:r>
            <a:endParaRPr lang="en-US" dirty="0"/>
          </a:p>
        </p:txBody>
      </p:sp>
      <p:pic>
        <p:nvPicPr>
          <p:cNvPr id="5" name="Content Placeholder 4" descr="A graph of blue bars&#10;&#10;AI-generated content may be incorrect.">
            <a:extLst>
              <a:ext uri="{FF2B5EF4-FFF2-40B4-BE49-F238E27FC236}">
                <a16:creationId xmlns:a16="http://schemas.microsoft.com/office/drawing/2014/main" id="{C8B1255F-2860-D1DC-DFE4-1BF5D7A39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55" y="1839191"/>
            <a:ext cx="6944592" cy="46305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3423E0-161C-992C-0F41-37C2A15DDF4D}"/>
              </a:ext>
            </a:extLst>
          </p:cNvPr>
          <p:cNvSpPr txBox="1"/>
          <p:nvPr/>
        </p:nvSpPr>
        <p:spPr>
          <a:xfrm>
            <a:off x="7720446" y="1765230"/>
            <a:ext cx="4267200" cy="150810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Gauteng</a:t>
            </a:r>
            <a:r>
              <a:rPr lang="en-ZA" sz="2000" dirty="0">
                <a:solidFill>
                  <a:schemeClr val="accent2"/>
                </a:solidFill>
              </a:rPr>
              <a:t> </a:t>
            </a:r>
            <a:r>
              <a:rPr lang="en-ZA" sz="2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Dominates</a:t>
            </a:r>
            <a:r>
              <a:rPr lang="en-ZA" sz="2000" dirty="0">
                <a:solidFill>
                  <a:schemeClr val="accent2"/>
                </a:solidFill>
              </a:rPr>
              <a:t> </a:t>
            </a:r>
            <a:r>
              <a:rPr lang="en-ZA" sz="2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User</a:t>
            </a:r>
            <a:r>
              <a:rPr lang="en-ZA" sz="2000" dirty="0">
                <a:solidFill>
                  <a:schemeClr val="accent2"/>
                </a:solidFill>
              </a:rPr>
              <a:t> </a:t>
            </a:r>
            <a:r>
              <a:rPr lang="en-ZA" sz="20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Base</a:t>
            </a:r>
          </a:p>
          <a:p>
            <a:endParaRPr lang="en-ZA" dirty="0"/>
          </a:p>
          <a:p>
            <a:r>
              <a:rPr lang="en-US" dirty="0"/>
              <a:t>Gauteng has the highest number of viewers by a wide margin — well above 300</a:t>
            </a:r>
            <a:r>
              <a:rPr lang="en-ZA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8D623C-BFE4-F5F8-C8BD-A5BA0772541B}"/>
              </a:ext>
            </a:extLst>
          </p:cNvPr>
          <p:cNvSpPr txBox="1"/>
          <p:nvPr/>
        </p:nvSpPr>
        <p:spPr>
          <a:xfrm>
            <a:off x="7720445" y="3640453"/>
            <a:ext cx="4267199" cy="181588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Western Cape &amp; KwaZulu-Natal Are Strong Secondary Markets</a:t>
            </a:r>
          </a:p>
          <a:p>
            <a:endParaRPr lang="en-ZA" dirty="0"/>
          </a:p>
          <a:p>
            <a:r>
              <a:rPr lang="en-US" dirty="0"/>
              <a:t>Both provinces show solid user numbers, indicating strong engagement potential.</a:t>
            </a:r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5D2455-0FB0-D3AF-97A3-7C8099C6D2D0}"/>
              </a:ext>
            </a:extLst>
          </p:cNvPr>
          <p:cNvSpPr txBox="1"/>
          <p:nvPr/>
        </p:nvSpPr>
        <p:spPr>
          <a:xfrm>
            <a:off x="7720445" y="5823454"/>
            <a:ext cx="4267199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/>
              <a:t>We have about </a:t>
            </a:r>
            <a:r>
              <a:rPr lang="en-ZA" b="1" dirty="0">
                <a:solidFill>
                  <a:schemeClr val="accent1"/>
                </a:solidFill>
              </a:rPr>
              <a:t>1.0K</a:t>
            </a:r>
            <a:r>
              <a:rPr lang="en-ZA" dirty="0"/>
              <a:t> total Number of Users</a:t>
            </a:r>
          </a:p>
        </p:txBody>
      </p:sp>
    </p:spTree>
    <p:extLst>
      <p:ext uri="{BB962C8B-B14F-4D97-AF65-F5344CB8AC3E}">
        <p14:creationId xmlns:p14="http://schemas.microsoft.com/office/powerpoint/2010/main" val="141945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3A97-946E-0BA4-BB79-4E4F99FCE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49FE0B-F156-2F86-39A0-E0C3FF9F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17052"/>
            <a:ext cx="10972800" cy="1143000"/>
          </a:xfrm>
        </p:spPr>
        <p:txBody>
          <a:bodyPr/>
          <a:lstStyle/>
          <a:p>
            <a:r>
              <a:rPr lang="en-ZA" b="1" dirty="0"/>
              <a:t>Viewership by Time of Day</a:t>
            </a:r>
            <a:endParaRPr lang="en-US" dirty="0"/>
          </a:p>
        </p:txBody>
      </p:sp>
      <p:pic>
        <p:nvPicPr>
          <p:cNvPr id="18" name="Content Placeholder 17" descr="A pie chart with numbers and a few words&#10;&#10;AI-generated content may be incorrect.">
            <a:extLst>
              <a:ext uri="{FF2B5EF4-FFF2-40B4-BE49-F238E27FC236}">
                <a16:creationId xmlns:a16="http://schemas.microsoft.com/office/drawing/2014/main" id="{71C857B8-EE76-533D-4A06-5EB9EE0BC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2078368"/>
            <a:ext cx="6599264" cy="4262580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8288333-6B20-4F3A-17BD-31521352BAE3}"/>
              </a:ext>
            </a:extLst>
          </p:cNvPr>
          <p:cNvSpPr txBox="1"/>
          <p:nvPr/>
        </p:nvSpPr>
        <p:spPr>
          <a:xfrm>
            <a:off x="7117772" y="5694617"/>
            <a:ext cx="4310633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Highest</a:t>
            </a:r>
            <a:r>
              <a:rPr lang="en-US" dirty="0"/>
              <a:t>: Afternoon — 401 views</a:t>
            </a:r>
          </a:p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Lowest</a:t>
            </a:r>
            <a:r>
              <a:rPr lang="en-US" dirty="0"/>
              <a:t>: Night — 17 views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792847C-982D-1AAA-3DCF-04D3F486F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80124"/>
              </p:ext>
            </p:extLst>
          </p:nvPr>
        </p:nvGraphicFramePr>
        <p:xfrm>
          <a:off x="7117772" y="2130804"/>
          <a:ext cx="4748650" cy="2784095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374325">
                  <a:extLst>
                    <a:ext uri="{9D8B030D-6E8A-4147-A177-3AD203B41FA5}">
                      <a16:colId xmlns:a16="http://schemas.microsoft.com/office/drawing/2014/main" val="2992838245"/>
                    </a:ext>
                  </a:extLst>
                </a:gridCol>
                <a:gridCol w="2374325">
                  <a:extLst>
                    <a:ext uri="{9D8B030D-6E8A-4147-A177-3AD203B41FA5}">
                      <a16:colId xmlns:a16="http://schemas.microsoft.com/office/drawing/2014/main" val="2948069736"/>
                    </a:ext>
                  </a:extLst>
                </a:gridCol>
              </a:tblGrid>
              <a:tr h="556819">
                <a:tc>
                  <a:txBody>
                    <a:bodyPr/>
                    <a:lstStyle/>
                    <a:p>
                      <a:r>
                        <a:rPr lang="en-ZA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Number of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3882906"/>
                  </a:ext>
                </a:extLst>
              </a:tr>
              <a:tr h="556819">
                <a:tc>
                  <a:txBody>
                    <a:bodyPr/>
                    <a:lstStyle/>
                    <a:p>
                      <a:r>
                        <a:rPr lang="en-ZA" dirty="0"/>
                        <a:t>Afternoon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401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494931"/>
                  </a:ext>
                </a:extLst>
              </a:tr>
              <a:tr h="556819">
                <a:tc>
                  <a:txBody>
                    <a:bodyPr/>
                    <a:lstStyle/>
                    <a:p>
                      <a:r>
                        <a:rPr lang="en-ZA" dirty="0"/>
                        <a:t>Morning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09282"/>
                  </a:ext>
                </a:extLst>
              </a:tr>
              <a:tr h="556819">
                <a:tc>
                  <a:txBody>
                    <a:bodyPr/>
                    <a:lstStyle/>
                    <a:p>
                      <a:r>
                        <a:rPr lang="en-ZA" dirty="0"/>
                        <a:t>Evening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72359"/>
                  </a:ext>
                </a:extLst>
              </a:tr>
              <a:tr h="556819">
                <a:tc>
                  <a:txBody>
                    <a:bodyPr/>
                    <a:lstStyle/>
                    <a:p>
                      <a:r>
                        <a:rPr lang="en-ZA" dirty="0"/>
                        <a:t>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320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09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CC7B-9FB0-A2F3-5116-615CA3E7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DC1F7E-E36E-E2AF-ABEE-3CFDCE783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17052"/>
            <a:ext cx="10972800" cy="1143000"/>
          </a:xfrm>
        </p:spPr>
        <p:txBody>
          <a:bodyPr/>
          <a:lstStyle/>
          <a:p>
            <a:r>
              <a:rPr lang="en-US" b="1" dirty="0"/>
              <a:t>Viewership by Race and Gender</a:t>
            </a:r>
            <a:endParaRPr lang="en-US" dirty="0"/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2D41AED9-3044-DFFF-790B-CB00978481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027013"/>
              </p:ext>
            </p:extLst>
          </p:nvPr>
        </p:nvGraphicFramePr>
        <p:xfrm>
          <a:off x="228600" y="2131060"/>
          <a:ext cx="10972800" cy="296672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07697716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65372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8672473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09908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Race</a:t>
                      </a:r>
                      <a:endParaRPr lang="en-Z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Male</a:t>
                      </a:r>
                      <a:endParaRPr lang="en-Z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Female</a:t>
                      </a:r>
                      <a:endParaRPr lang="en-Z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None</a:t>
                      </a:r>
                      <a:endParaRPr lang="en-Z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48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Black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377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99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White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55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Coloured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390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Indian/Asian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977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7146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6781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772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319797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17237526-A914-C79A-AAE5-1466B45106DB}"/>
              </a:ext>
            </a:extLst>
          </p:cNvPr>
          <p:cNvSpPr txBox="1"/>
          <p:nvPr/>
        </p:nvSpPr>
        <p:spPr>
          <a:xfrm>
            <a:off x="228600" y="5486400"/>
            <a:ext cx="1097280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Black users </a:t>
            </a:r>
            <a:r>
              <a:rPr lang="en-US" dirty="0"/>
              <a:t>are the largest racial group, comprising 46% of total users. </a:t>
            </a:r>
            <a:r>
              <a:rPr lang="en-US" b="1" dirty="0">
                <a:solidFill>
                  <a:schemeClr val="accent1"/>
                </a:solidFill>
              </a:rPr>
              <a:t>White users </a:t>
            </a:r>
            <a:r>
              <a:rPr lang="en-US" dirty="0"/>
              <a:t>is 16%, followed by </a:t>
            </a:r>
            <a:r>
              <a:rPr lang="en-US" b="1" dirty="0" err="1">
                <a:solidFill>
                  <a:schemeClr val="accent4"/>
                </a:solidFill>
              </a:rPr>
              <a:t>Coloured</a:t>
            </a:r>
            <a:r>
              <a:rPr lang="en-US" dirty="0"/>
              <a:t> (14%), </a:t>
            </a:r>
            <a:r>
              <a:rPr lang="en-US" b="1" dirty="0">
                <a:solidFill>
                  <a:schemeClr val="accent5"/>
                </a:solidFill>
              </a:rPr>
              <a:t>Indian/Asian </a:t>
            </a:r>
            <a:r>
              <a:rPr lang="en-US" dirty="0"/>
              <a:t>(6%), and </a:t>
            </a:r>
            <a:r>
              <a:rPr lang="en-US" b="1" dirty="0">
                <a:solidFill>
                  <a:schemeClr val="accent3"/>
                </a:solidFill>
              </a:rPr>
              <a:t>Other</a:t>
            </a:r>
            <a:r>
              <a:rPr lang="en-US" dirty="0"/>
              <a:t> (1%).</a:t>
            </a:r>
          </a:p>
          <a:p>
            <a:r>
              <a:rPr lang="en-US" b="1" dirty="0">
                <a:solidFill>
                  <a:schemeClr val="accent4"/>
                </a:solidFill>
              </a:rPr>
              <a:t>None</a:t>
            </a:r>
            <a:r>
              <a:rPr lang="en-US" dirty="0"/>
              <a:t> </a:t>
            </a:r>
            <a:r>
              <a:rPr lang="en-US"/>
              <a:t>is 9%, </a:t>
            </a:r>
            <a:r>
              <a:rPr lang="en-US" dirty="0"/>
              <a:t>which may indicate gaps in data collection or user privacy preferences.</a:t>
            </a:r>
            <a:endParaRPr lang="en-ZA" dirty="0" err="1"/>
          </a:p>
        </p:txBody>
      </p:sp>
    </p:spTree>
    <p:extLst>
      <p:ext uri="{BB962C8B-B14F-4D97-AF65-F5344CB8AC3E}">
        <p14:creationId xmlns:p14="http://schemas.microsoft.com/office/powerpoint/2010/main" val="7835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ADDFF-9F63-3725-31DE-C2183C1F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D26CE6-BF67-447D-D05A-5E81230C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17052"/>
            <a:ext cx="10972800" cy="1143000"/>
          </a:xfrm>
        </p:spPr>
        <p:txBody>
          <a:bodyPr/>
          <a:lstStyle/>
          <a:p>
            <a:r>
              <a:rPr lang="en-US" b="1" dirty="0"/>
              <a:t>Viewers by Age Group</a:t>
            </a:r>
            <a:endParaRPr lang="en-US" dirty="0"/>
          </a:p>
        </p:txBody>
      </p:sp>
      <p:pic>
        <p:nvPicPr>
          <p:cNvPr id="8" name="Content Placeholder 7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AF30F192-79FA-4FE1-73E1-989DC029C6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005836"/>
            <a:ext cx="5935134" cy="450859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3AC282-3A22-78EF-CF75-2D3ED160E96A}"/>
              </a:ext>
            </a:extLst>
          </p:cNvPr>
          <p:cNvSpPr txBox="1"/>
          <p:nvPr/>
        </p:nvSpPr>
        <p:spPr>
          <a:xfrm>
            <a:off x="348672" y="5466409"/>
            <a:ext cx="4836392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Young Adults</a:t>
            </a:r>
            <a:r>
              <a:rPr lang="en-US" dirty="0"/>
              <a:t> dominate the user base with 561 individuals — more than double the next group.</a:t>
            </a:r>
            <a:endParaRPr lang="en-ZA" dirty="0" err="1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EAE613-C57A-2D32-DA15-E6D410DD0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160668"/>
              </p:ext>
            </p:extLst>
          </p:nvPr>
        </p:nvGraphicFramePr>
        <p:xfrm>
          <a:off x="348672" y="2004790"/>
          <a:ext cx="4836392" cy="31168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18196">
                  <a:extLst>
                    <a:ext uri="{9D8B030D-6E8A-4147-A177-3AD203B41FA5}">
                      <a16:colId xmlns:a16="http://schemas.microsoft.com/office/drawing/2014/main" val="1529733601"/>
                    </a:ext>
                  </a:extLst>
                </a:gridCol>
                <a:gridCol w="2418196">
                  <a:extLst>
                    <a:ext uri="{9D8B030D-6E8A-4147-A177-3AD203B41FA5}">
                      <a16:colId xmlns:a16="http://schemas.microsoft.com/office/drawing/2014/main" val="3788641238"/>
                    </a:ext>
                  </a:extLst>
                </a:gridCol>
              </a:tblGrid>
              <a:tr h="519480">
                <a:tc>
                  <a:txBody>
                    <a:bodyPr/>
                    <a:lstStyle/>
                    <a:p>
                      <a:r>
                        <a:rPr lang="en-ZA" dirty="0"/>
                        <a:t>Age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011736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r>
                        <a:rPr lang="en-ZA" dirty="0"/>
                        <a:t>&lt;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Kids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78937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r>
                        <a:rPr lang="en-ZA" dirty="0"/>
                        <a:t>Between 13 and 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Teens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57339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r>
                        <a:rPr lang="en-US" dirty="0"/>
                        <a:t>Between 18 and 35 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Young Adults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60816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r>
                        <a:rPr lang="en-ZA" dirty="0"/>
                        <a:t>Between 36 and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Adults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807027"/>
                  </a:ext>
                </a:extLst>
              </a:tr>
              <a:tr h="519480">
                <a:tc>
                  <a:txBody>
                    <a:bodyPr/>
                    <a:lstStyle/>
                    <a:p>
                      <a:r>
                        <a:rPr lang="en-ZA" dirty="0"/>
                        <a:t>&gt;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Adults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879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8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727B3-C3A7-D351-C587-2678AAFC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367BB9-8A03-EFFD-07C7-470D98E95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815677"/>
            <a:ext cx="11887200" cy="124441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Viewership Duration (Seconds) by Day &amp; Gender</a:t>
            </a:r>
          </a:p>
        </p:txBody>
      </p:sp>
      <p:pic>
        <p:nvPicPr>
          <p:cNvPr id="11" name="Content Placeholder 10" descr="A graph showing the number of days and months&#10;&#10;AI-generated content may be incorrect.">
            <a:extLst>
              <a:ext uri="{FF2B5EF4-FFF2-40B4-BE49-F238E27FC236}">
                <a16:creationId xmlns:a16="http://schemas.microsoft.com/office/drawing/2014/main" id="{FE7F570E-2D16-FA56-B743-BA7D6E1A8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410691"/>
            <a:ext cx="5668505" cy="4145973"/>
          </a:xfr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8E3A74D-926D-694F-759F-18742AD16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138060"/>
              </p:ext>
            </p:extLst>
          </p:nvPr>
        </p:nvGraphicFramePr>
        <p:xfrm>
          <a:off x="6172200" y="2410691"/>
          <a:ext cx="5604164" cy="2926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802082">
                  <a:extLst>
                    <a:ext uri="{9D8B030D-6E8A-4147-A177-3AD203B41FA5}">
                      <a16:colId xmlns:a16="http://schemas.microsoft.com/office/drawing/2014/main" val="4144311033"/>
                    </a:ext>
                  </a:extLst>
                </a:gridCol>
                <a:gridCol w="2802082">
                  <a:extLst>
                    <a:ext uri="{9D8B030D-6E8A-4147-A177-3AD203B41FA5}">
                      <a16:colId xmlns:a16="http://schemas.microsoft.com/office/drawing/2014/main" val="990967557"/>
                    </a:ext>
                  </a:extLst>
                </a:gridCol>
              </a:tblGrid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/>
                        <a:t>Day</a:t>
                      </a:r>
                      <a:endParaRPr lang="en-Z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b="1" dirty="0"/>
                        <a:t>Duration</a:t>
                      </a:r>
                      <a:endParaRPr lang="en-Z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201980"/>
                  </a:ext>
                </a:extLst>
              </a:tr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Saturday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82,192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25892"/>
                  </a:ext>
                </a:extLst>
              </a:tr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Sunday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50,996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888655"/>
                  </a:ext>
                </a:extLst>
              </a:tr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Monday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42,294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176866"/>
                  </a:ext>
                </a:extLst>
              </a:tr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Tuesday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69,212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202336"/>
                  </a:ext>
                </a:extLst>
              </a:tr>
              <a:tr h="257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Wednesday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47,397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0805509"/>
                  </a:ext>
                </a:extLst>
              </a:tr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Thursday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57,753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4561932"/>
                  </a:ext>
                </a:extLst>
              </a:tr>
              <a:tr h="209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Friday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58,388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95885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3546539-7798-AD49-E1FF-3AC0F2121073}"/>
              </a:ext>
            </a:extLst>
          </p:cNvPr>
          <p:cNvSpPr txBox="1"/>
          <p:nvPr/>
        </p:nvSpPr>
        <p:spPr>
          <a:xfrm>
            <a:off x="6096000" y="5580658"/>
            <a:ext cx="5330536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Top Performing Days:</a:t>
            </a:r>
          </a:p>
          <a:p>
            <a:r>
              <a:rPr lang="en-US" b="1" dirty="0"/>
              <a:t>Saturday (82,192)</a:t>
            </a:r>
            <a:r>
              <a:rPr lang="en-US" dirty="0"/>
              <a:t>: Highest duration by far.</a:t>
            </a:r>
          </a:p>
          <a:p>
            <a:r>
              <a:rPr lang="en-US" b="1" dirty="0"/>
              <a:t>Tuesday (69,212)</a:t>
            </a:r>
            <a:r>
              <a:rPr lang="en-US" dirty="0"/>
              <a:t>: Strong midweek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55277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90C1-6066-F3C8-E56A-F853C70BB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655C78-DE7B-3DEC-D0D6-6564804E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045" y="379259"/>
            <a:ext cx="11887200" cy="1244416"/>
          </a:xfrm>
        </p:spPr>
        <p:txBody>
          <a:bodyPr>
            <a:normAutofit/>
          </a:bodyPr>
          <a:lstStyle/>
          <a:p>
            <a:r>
              <a:rPr lang="en-US" b="1" dirty="0"/>
              <a:t>Top Ten (10) Channels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0368D5-04D8-AF24-815F-FD603F649D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357797"/>
              </p:ext>
            </p:extLst>
          </p:nvPr>
        </p:nvGraphicFramePr>
        <p:xfrm>
          <a:off x="329045" y="2330017"/>
          <a:ext cx="8056419" cy="40690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30928">
                  <a:extLst>
                    <a:ext uri="{9D8B030D-6E8A-4147-A177-3AD203B41FA5}">
                      <a16:colId xmlns:a16="http://schemas.microsoft.com/office/drawing/2014/main" val="898238112"/>
                    </a:ext>
                  </a:extLst>
                </a:gridCol>
                <a:gridCol w="3840018">
                  <a:extLst>
                    <a:ext uri="{9D8B030D-6E8A-4147-A177-3AD203B41FA5}">
                      <a16:colId xmlns:a16="http://schemas.microsoft.com/office/drawing/2014/main" val="2779674530"/>
                    </a:ext>
                  </a:extLst>
                </a:gridCol>
                <a:gridCol w="2685473">
                  <a:extLst>
                    <a:ext uri="{9D8B030D-6E8A-4147-A177-3AD203B41FA5}">
                      <a16:colId xmlns:a16="http://schemas.microsoft.com/office/drawing/2014/main" val="487554227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Rank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Channel Name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#Views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099535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Supersport Live Events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146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74155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Channel 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1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Africa Magic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48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Trace 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34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Cartoon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506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SuperSport Blitz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54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Boomerang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954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ICC Cricket World Cup 2011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8816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456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/>
                        <a:t>E! Entertainment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ZA" dirty="0"/>
                        <a:t>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9768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4232D43-5E2D-A20B-AB34-9FAF2D4EA79C}"/>
              </a:ext>
            </a:extLst>
          </p:cNvPr>
          <p:cNvSpPr txBox="1"/>
          <p:nvPr/>
        </p:nvSpPr>
        <p:spPr>
          <a:xfrm>
            <a:off x="8717973" y="2441864"/>
            <a:ext cx="2951018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accent4"/>
                </a:solidFill>
                <a:latin typeface="Arial" panose="020B0604020202020204" pitchFamily="34" charset="0"/>
              </a:rPr>
              <a:t>Live Sports Dominate Viewership:</a:t>
            </a:r>
          </a:p>
          <a:p>
            <a:br>
              <a:rPr lang="en-US" altLang="en-US" dirty="0">
                <a:latin typeface="Arial" panose="020B0604020202020204" pitchFamily="34" charset="0"/>
              </a:rPr>
            </a:br>
            <a:r>
              <a:rPr lang="en-US" altLang="en-US" i="1" dirty="0" err="1">
                <a:latin typeface="Arial" panose="020B0604020202020204" pitchFamily="34" charset="0"/>
              </a:rPr>
              <a:t>Supersport</a:t>
            </a:r>
            <a:r>
              <a:rPr lang="en-US" altLang="en-US" i="1" dirty="0">
                <a:latin typeface="Arial" panose="020B0604020202020204" pitchFamily="34" charset="0"/>
              </a:rPr>
              <a:t> Live Events</a:t>
            </a:r>
            <a:r>
              <a:rPr lang="en-US" altLang="en-US" dirty="0">
                <a:latin typeface="Arial" panose="020B0604020202020204" pitchFamily="34" charset="0"/>
              </a:rPr>
              <a:t> leads with 146 records, and </a:t>
            </a:r>
            <a:r>
              <a:rPr lang="en-US" altLang="en-US" i="1" dirty="0">
                <a:latin typeface="Arial" panose="020B0604020202020204" pitchFamily="34" charset="0"/>
              </a:rPr>
              <a:t>SuperSport Blitz</a:t>
            </a:r>
            <a:r>
              <a:rPr lang="en-US" altLang="en-US" dirty="0">
                <a:latin typeface="Arial" panose="020B0604020202020204" pitchFamily="34" charset="0"/>
              </a:rPr>
              <a:t> ranks #6 with 88. </a:t>
            </a:r>
          </a:p>
          <a:p>
            <a:endParaRPr lang="en-ZA" dirty="0" err="1"/>
          </a:p>
        </p:txBody>
      </p:sp>
    </p:spTree>
    <p:extLst>
      <p:ext uri="{BB962C8B-B14F-4D97-AF65-F5344CB8AC3E}">
        <p14:creationId xmlns:p14="http://schemas.microsoft.com/office/powerpoint/2010/main" val="111567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Factors Influencing Consumption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2337" y="2226425"/>
            <a:ext cx="10972800" cy="4389120"/>
          </a:xfrm>
        </p:spPr>
        <p:txBody>
          <a:bodyPr>
            <a:normAutofit/>
          </a:bodyPr>
          <a:lstStyle/>
          <a:p>
            <a:r>
              <a:rPr lang="en-US" b="1" dirty="0"/>
              <a:t>Day of the Week</a:t>
            </a:r>
            <a:r>
              <a:rPr lang="en-US" dirty="0"/>
              <a:t>: Saturday shows the highest engagement and midweek dips occur on Monday and Wednesday.</a:t>
            </a:r>
          </a:p>
          <a:p>
            <a:r>
              <a:rPr lang="en-US" b="1" dirty="0"/>
              <a:t>Time of Day</a:t>
            </a:r>
            <a:r>
              <a:rPr lang="en-US" dirty="0"/>
              <a:t>: Afternoon leads, followed by morning and night is the lowest</a:t>
            </a:r>
          </a:p>
          <a:p>
            <a:r>
              <a:rPr lang="en-US" b="1" dirty="0"/>
              <a:t>Content Type</a:t>
            </a:r>
            <a:r>
              <a:rPr lang="en-US" dirty="0"/>
              <a:t>: Sports and music channels (e.g., </a:t>
            </a:r>
            <a:r>
              <a:rPr lang="en-US" dirty="0" err="1"/>
              <a:t>Supersport</a:t>
            </a:r>
            <a:r>
              <a:rPr lang="en-US" dirty="0"/>
              <a:t> Live Events, Channel O, Trace TV) drive the most views.</a:t>
            </a:r>
          </a:p>
          <a:p>
            <a:r>
              <a:rPr lang="en-US" b="1" dirty="0"/>
              <a:t>Demographics</a:t>
            </a:r>
            <a:r>
              <a:rPr lang="en-US" dirty="0"/>
              <a:t>: Young adults (18–35) dominate the user base. Black male viewers are the largest segment.</a:t>
            </a:r>
          </a:p>
          <a:p>
            <a:r>
              <a:rPr lang="en-US" b="1" dirty="0"/>
              <a:t>Promotion Timing</a:t>
            </a:r>
            <a:r>
              <a:rPr lang="en-US" dirty="0"/>
              <a:t>: Campaigns launched in the afternoon or commute hours perform better.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8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03E6-5E4A-DC6F-2E34-AEE6459B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02925-AE3B-2A7C-73FF-568C9BA8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Content Recommendations for Low Consumption Days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A847E-2808-7B8C-1DF3-3B21F40A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boost engagement on quieter days like Monday and Wednesday:</a:t>
            </a:r>
          </a:p>
          <a:p>
            <a:pPr lvl="1"/>
            <a:r>
              <a:rPr lang="en-US" b="1" dirty="0"/>
              <a:t>Catch-Up Capsules</a:t>
            </a:r>
            <a:r>
              <a:rPr lang="en-US" dirty="0"/>
              <a:t>: Recap top content from the weekend.</a:t>
            </a:r>
          </a:p>
          <a:p>
            <a:pPr lvl="1"/>
            <a:r>
              <a:rPr lang="en-US" b="1" dirty="0"/>
              <a:t>Interactive Polls &amp; Quizzes</a:t>
            </a:r>
            <a:r>
              <a:rPr lang="en-US" dirty="0"/>
              <a:t>: Gamified formats to spark participation.</a:t>
            </a:r>
          </a:p>
          <a:p>
            <a:pPr lvl="1"/>
            <a:r>
              <a:rPr lang="en-US" b="1" dirty="0"/>
              <a:t>Behind-the-Scenes or Creator Spotlights</a:t>
            </a:r>
            <a:r>
              <a:rPr lang="en-US" dirty="0"/>
              <a:t>: Build emotional connection and loyalty.</a:t>
            </a:r>
          </a:p>
          <a:p>
            <a:pPr lvl="1"/>
            <a:r>
              <a:rPr lang="en-US" b="1" dirty="0"/>
              <a:t>Countdowns or Teasers</a:t>
            </a:r>
            <a:r>
              <a:rPr lang="en-US" dirty="0"/>
              <a:t>: Create anticipation for upcoming drops.</a:t>
            </a:r>
          </a:p>
          <a:p>
            <a:pPr lvl="1"/>
            <a:r>
              <a:rPr lang="en-US" b="1" dirty="0"/>
              <a:t>Localized Content</a:t>
            </a:r>
            <a:r>
              <a:rPr lang="en-US" dirty="0"/>
              <a:t>: Feature region-specific stories or shoutouts (especially for Gauteng, Western Cape, and KZN).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A386-13DA-7054-DA28-A665133C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528E10-C6B8-3FA7-DA66-14C119A3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b="1" dirty="0"/>
              <a:t>Initiatives to Grow </a:t>
            </a:r>
            <a:r>
              <a:rPr lang="en-US" sz="4500" b="1" dirty="0" err="1"/>
              <a:t>BrightTV’s</a:t>
            </a:r>
            <a:r>
              <a:rPr lang="en-US" sz="4500" b="1" dirty="0"/>
              <a:t> User Base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04D06D-0D6D-DC04-63AA-AC631C482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216035"/>
            <a:ext cx="10972800" cy="4389120"/>
          </a:xfrm>
        </p:spPr>
        <p:txBody>
          <a:bodyPr>
            <a:normAutofit/>
          </a:bodyPr>
          <a:lstStyle/>
          <a:p>
            <a:r>
              <a:rPr lang="en-US" b="1" dirty="0"/>
              <a:t>Referral Campaigns</a:t>
            </a:r>
            <a:r>
              <a:rPr lang="en-US" dirty="0"/>
              <a:t>: Reward users for inviting friends (e.g., unlock premium content).</a:t>
            </a:r>
          </a:p>
          <a:p>
            <a:r>
              <a:rPr lang="en-US" b="1" dirty="0"/>
              <a:t>Onboarding Series</a:t>
            </a:r>
            <a:r>
              <a:rPr lang="en-US" dirty="0"/>
              <a:t>: Short, engaging intro series to showcase platform features.</a:t>
            </a:r>
          </a:p>
          <a:p>
            <a:r>
              <a:rPr lang="en-US" b="1" dirty="0"/>
              <a:t>Demographic-Specific Marketing</a:t>
            </a:r>
            <a:r>
              <a:rPr lang="en-US" dirty="0"/>
              <a:t>: Target campaigns to high-engagement groups (18–35, urban clusters).</a:t>
            </a:r>
          </a:p>
          <a:p>
            <a:r>
              <a:rPr lang="en-US" b="1" dirty="0"/>
              <a:t>Content Partnerships</a:t>
            </a:r>
            <a:r>
              <a:rPr lang="en-US" dirty="0"/>
              <a:t>: Collaborate with influencers and creators to expand reach.</a:t>
            </a:r>
          </a:p>
        </p:txBody>
      </p:sp>
    </p:spTree>
    <p:extLst>
      <p:ext uri="{BB962C8B-B14F-4D97-AF65-F5344CB8AC3E}">
        <p14:creationId xmlns:p14="http://schemas.microsoft.com/office/powerpoint/2010/main" val="30410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D7D0-8137-D4FE-8FF7-766DE7CC9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7748" y="1330037"/>
            <a:ext cx="5532243" cy="1828800"/>
          </a:xfrm>
        </p:spPr>
        <p:txBody>
          <a:bodyPr>
            <a:normAutofit/>
          </a:bodyPr>
          <a:lstStyle/>
          <a:p>
            <a:r>
              <a:rPr lang="en-ZA" sz="72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654151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esentation on brainstorming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siness brainstorming presentation.potx" id="{DE77CA07-3D7A-4CF2-AF02-587F794CB3CB}" vid="{13C2A94F-C0A1-4622-B71C-29A3B00D5E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brainstorming presentation</Template>
  <TotalTime>172</TotalTime>
  <Words>693</Words>
  <Application>Microsoft Office PowerPoint</Application>
  <PresentationFormat>Widescreen</PresentationFormat>
  <Paragraphs>159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Palatino Linotype</vt:lpstr>
      <vt:lpstr>Wingdings 2</vt:lpstr>
      <vt:lpstr>Presentation on brainstorming</vt:lpstr>
      <vt:lpstr>BrightTV Viewership Analytics (Insights and Recommendations)</vt:lpstr>
      <vt:lpstr>Agenda</vt:lpstr>
      <vt:lpstr>Introduction</vt:lpstr>
      <vt:lpstr>Viewers by Province</vt:lpstr>
      <vt:lpstr>Viewership by Time of Day</vt:lpstr>
      <vt:lpstr>Viewership by Race and Gender</vt:lpstr>
      <vt:lpstr>Viewers by Age Group</vt:lpstr>
      <vt:lpstr>Viewership Duration (Seconds) by Day &amp; Gender</vt:lpstr>
      <vt:lpstr>Top Ten (10) Channels</vt:lpstr>
      <vt:lpstr>Factors Influencing Consumption</vt:lpstr>
      <vt:lpstr>Content Recommendations for Low Consumption Days</vt:lpstr>
      <vt:lpstr>Initiatives to Grow BrightTV’s User Base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Phuti Mochueneng</dc:creator>
  <cp:lastModifiedBy>Phuti Mochueneng</cp:lastModifiedBy>
  <cp:revision>1</cp:revision>
  <dcterms:created xsi:type="dcterms:W3CDTF">2025-09-27T16:50:43Z</dcterms:created>
  <dcterms:modified xsi:type="dcterms:W3CDTF">2025-11-13T09:02:36Z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